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4630400" cy="8229600"/>
  <p:notesSz cx="8229600" cy="14630400"/>
  <p:embeddedFontLst>
    <p:embeddedFont>
      <p:font typeface="Roboto Slab"/>
      <p:regular r:id="rId26"/>
    </p:embeddedFont>
    <p:embeddedFont>
      <p:font typeface="Roboto Slab"/>
      <p:regular r:id="rId27"/>
    </p:embeddedFont>
    <p:embeddedFont>
      <p:font typeface="Roboto"/>
      <p:regular r:id="rId28"/>
    </p:embeddedFont>
    <p:embeddedFont>
      <p:font typeface="Roboto"/>
      <p:regular r:id="rId29"/>
    </p:embeddedFont>
    <p:embeddedFont>
      <p:font typeface="Roboto"/>
      <p:regular r:id="rId30"/>
    </p:embeddedFont>
    <p:embeddedFont>
      <p:font typeface="Roboto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slideLayout" Target="../slideLayouts/slideLayout14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1033701"/>
            <a:ext cx="7630716" cy="337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ShiftGuard: Event-Aware Distribution Shift Detection, Attribution, and Human-in-the-Loop Adaptation for Non-Stationary Forex Markets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56642" y="4721185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 6140 Machine Learning · Northeastern University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6642" y="5290780"/>
            <a:ext cx="763071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Forex: one of the most liquid markets — yet volatile and regime-dependent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Feature–return relationships shift after macro shocks, policy events, sentiment changes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Static models degrade — detection, explanation, and adaptation are required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Goal: shift detection + attribution + adaptive response, not just prediction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494348"/>
            <a:ext cx="510671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Project Matters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95313" y="1281113"/>
            <a:ext cx="13439775" cy="132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ML systems fail silently when the world changes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 work studies drift adaptation, SHAP, and HITL separately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connects them into one operational pipeline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contribution: system integration under non-stationarity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224" y="2749153"/>
            <a:ext cx="6477953" cy="49860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71124" y="3097638"/>
            <a:ext cx="2782003" cy="377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Drift Detection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5910759" y="7008570"/>
            <a:ext cx="2782004" cy="377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Explainability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7577273" y="3097638"/>
            <a:ext cx="2782004" cy="377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Human Review</a:t>
            </a:r>
            <a:endParaRPr lang="en-US" sz="2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4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Methods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2893"/>
            <a:ext cx="13042821" cy="1519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pipeline — each stage feeds the next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reproducible: python src/run_all_phases.py --clean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come from the complete regeneration path, not manual steps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583079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5" name="Shape 3"/>
          <p:cNvSpPr/>
          <p:nvPr/>
        </p:nvSpPr>
        <p:spPr>
          <a:xfrm>
            <a:off x="2117408" y="490263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6" name="Shape 4"/>
          <p:cNvSpPr/>
          <p:nvPr/>
        </p:nvSpPr>
        <p:spPr>
          <a:xfrm>
            <a:off x="1877497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1962567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1020604" y="3967163"/>
            <a:ext cx="22242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Raw Data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98069" y="5583079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0" name="Shape 8"/>
          <p:cNvSpPr/>
          <p:nvPr/>
        </p:nvSpPr>
        <p:spPr>
          <a:xfrm>
            <a:off x="3358158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3443228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2501265" y="6490335"/>
            <a:ext cx="222420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78849" y="490263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8938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4924008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3981926" y="3967163"/>
            <a:ext cx="222432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Monitored Model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59510" y="5583079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19599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4670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20" name="Text 18"/>
          <p:cNvSpPr/>
          <p:nvPr/>
        </p:nvSpPr>
        <p:spPr>
          <a:xfrm>
            <a:off x="5462588" y="6490335"/>
            <a:ext cx="2224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Shift Detection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40172" y="490263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22" name="Shape 20"/>
          <p:cNvSpPr/>
          <p:nvPr/>
        </p:nvSpPr>
        <p:spPr>
          <a:xfrm>
            <a:off x="7800261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3" name="Text 21"/>
          <p:cNvSpPr/>
          <p:nvPr/>
        </p:nvSpPr>
        <p:spPr>
          <a:xfrm>
            <a:off x="7885331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650" dirty="0"/>
          </a:p>
        </p:txBody>
      </p:sp>
      <p:sp>
        <p:nvSpPr>
          <p:cNvPr id="24" name="Text 22"/>
          <p:cNvSpPr/>
          <p:nvPr/>
        </p:nvSpPr>
        <p:spPr>
          <a:xfrm>
            <a:off x="6943368" y="3967163"/>
            <a:ext cx="222420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SHAP Attribution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20952" y="5583079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041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7" name="Text 25"/>
          <p:cNvSpPr/>
          <p:nvPr/>
        </p:nvSpPr>
        <p:spPr>
          <a:xfrm>
            <a:off x="9366111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650" dirty="0"/>
          </a:p>
        </p:txBody>
      </p:sp>
      <p:sp>
        <p:nvSpPr>
          <p:cNvPr id="28" name="Text 26"/>
          <p:cNvSpPr/>
          <p:nvPr/>
        </p:nvSpPr>
        <p:spPr>
          <a:xfrm>
            <a:off x="8424029" y="6490335"/>
            <a:ext cx="2224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HITL Review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1001613" y="4902637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61702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31" name="Text 29"/>
          <p:cNvSpPr/>
          <p:nvPr/>
        </p:nvSpPr>
        <p:spPr>
          <a:xfrm>
            <a:off x="10846772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</a:t>
            </a:r>
            <a:endParaRPr lang="en-US" sz="2650" dirty="0"/>
          </a:p>
        </p:txBody>
      </p:sp>
      <p:sp>
        <p:nvSpPr>
          <p:cNvPr id="32" name="Text 30"/>
          <p:cNvSpPr/>
          <p:nvPr/>
        </p:nvSpPr>
        <p:spPr>
          <a:xfrm>
            <a:off x="9904690" y="3967163"/>
            <a:ext cx="22243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Retrain + Trade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12482274" y="5583079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</p:sp>
      <p:sp>
        <p:nvSpPr>
          <p:cNvPr id="34" name="Shape 32"/>
          <p:cNvSpPr/>
          <p:nvPr/>
        </p:nvSpPr>
        <p:spPr>
          <a:xfrm>
            <a:off x="12242363" y="532792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35" name="Text 33"/>
          <p:cNvSpPr/>
          <p:nvPr/>
        </p:nvSpPr>
        <p:spPr>
          <a:xfrm>
            <a:off x="12327434" y="53704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</a:t>
            </a:r>
            <a:endParaRPr lang="en-US" sz="2650" dirty="0"/>
          </a:p>
        </p:txBody>
      </p:sp>
      <p:sp>
        <p:nvSpPr>
          <p:cNvPr id="36" name="Text 34"/>
          <p:cNvSpPr/>
          <p:nvPr/>
        </p:nvSpPr>
        <p:spPr>
          <a:xfrm>
            <a:off x="11385471" y="6490335"/>
            <a:ext cx="22242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84716"/>
            <a:ext cx="789182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Sources and Instruments -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328857"/>
            <a:ext cx="7319605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EURUSD · GBPJPY · XAUUSD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44260" y="2292310"/>
            <a:ext cx="13141881" cy="893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series: 4H OHLCV bars, Jan 2015 – Apr 2026 · sources: Dukascopy, Yahoo Finance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~18,000 processed rows per pair after warm-up and preprocessing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011" y="3410426"/>
            <a:ext cx="8364260" cy="415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04722" y="4558062"/>
            <a:ext cx="1993812" cy="28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Sentiment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304722" y="6122957"/>
            <a:ext cx="1993812" cy="28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Macro Calendars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331698" y="6122957"/>
            <a:ext cx="1993812" cy="28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Rates &amp; Yields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340900" y="4553987"/>
            <a:ext cx="1985400" cy="28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Price Bars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75442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Engineering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812727"/>
            <a:ext cx="13067586" cy="200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feature groups engineered per pair — designed to capture distinct market dynamics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counts: EURUSD 70 · GBPJPY 70 · XAUUSD 76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XAUUSD has 6 additional gold-specific sentiment factors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and sentiment sources merged by date, forward-filled across intraday bars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1407" y="4062770"/>
            <a:ext cx="6423898" cy="1635800"/>
          </a:xfrm>
          <a:prstGeom prst="roundRect">
            <a:avLst>
              <a:gd name="adj" fmla="val 2047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004649" y="42860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04649" y="4766667"/>
            <a:ext cx="59774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MAs, MACD, RSI, ADX, ATR, Keltner channels, Williams %R, CCI, ROC, momentum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5095" y="4062770"/>
            <a:ext cx="6423898" cy="1635800"/>
          </a:xfrm>
          <a:prstGeom prst="roundRect">
            <a:avLst>
              <a:gd name="adj" fmla="val 2047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7648337" y="428601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Volatility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48337" y="4766667"/>
            <a:ext cx="59774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Garman-Klass, Parkinson, rolling std, vol-of-vol, volatility ratios, drawdown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81407" y="5918359"/>
            <a:ext cx="6423898" cy="1635800"/>
          </a:xfrm>
          <a:prstGeom prst="roundRect">
            <a:avLst>
              <a:gd name="adj" fmla="val 2047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1004649" y="6141601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Macro / Event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1004649" y="6622256"/>
            <a:ext cx="59774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differentials, yield spreads, yield curve, event surprise, days to next event, NFP/CPI flags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5095" y="5918359"/>
            <a:ext cx="6423898" cy="1635800"/>
          </a:xfrm>
          <a:prstGeom prst="roundRect">
            <a:avLst>
              <a:gd name="adj" fmla="val 2047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7648337" y="6141601"/>
            <a:ext cx="319123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Sentiment / Cross-Asset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7648337" y="6622256"/>
            <a:ext cx="59774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VIX, DXY, S&amp;P500 return, oil return, rolling correlations, news volume spikes, gold factors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574953"/>
            <a:ext cx="8314015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Baselines and Complexity Checks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613892"/>
            <a:ext cx="13166884" cy="1809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baseline: rule-based RSI/MACD, no learned model, no shift awareness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Direction baseline: always-on XGBoost — learned model, no shift-aware control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Higher-complexity models (stacked ensemble) explored — did not solve drift or reproducibility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Complexity alone was not the answer — system design was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758" y="383250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Baseline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731758" y="4375904"/>
            <a:ext cx="4003238" cy="1165741"/>
          </a:xfrm>
          <a:prstGeom prst="roundRect">
            <a:avLst>
              <a:gd name="adj" fmla="val 2691"/>
            </a:avLst>
          </a:prstGeom>
          <a:solidFill>
            <a:srgbClr val="183A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832" y="4682847"/>
            <a:ext cx="261342" cy="2090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1248" y="4620935"/>
            <a:ext cx="3114675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Uses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RSI/MACD signals, rule-based entry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758" y="5758458"/>
            <a:ext cx="4003238" cy="1487091"/>
          </a:xfrm>
          <a:prstGeom prst="roundRect">
            <a:avLst>
              <a:gd name="adj" fmla="val 2109"/>
            </a:avLst>
          </a:prstGeom>
          <a:solidFill>
            <a:srgbClr val="4B3F0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832" y="6065401"/>
            <a:ext cx="261342" cy="2090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1248" y="6003488"/>
            <a:ext cx="3114675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Missing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Learned model, shift detection, attribution, adaptive response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52680" y="3832503"/>
            <a:ext cx="271736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Direction Baseline</a:t>
            </a:r>
            <a:endParaRPr lang="en-US" sz="2050" dirty="0"/>
          </a:p>
        </p:txBody>
      </p:sp>
      <p:sp>
        <p:nvSpPr>
          <p:cNvPr id="12" name="Shape 8"/>
          <p:cNvSpPr/>
          <p:nvPr/>
        </p:nvSpPr>
        <p:spPr>
          <a:xfrm>
            <a:off x="5252680" y="4375904"/>
            <a:ext cx="4003238" cy="1165741"/>
          </a:xfrm>
          <a:prstGeom prst="roundRect">
            <a:avLst>
              <a:gd name="adj" fmla="val 2691"/>
            </a:avLst>
          </a:prstGeom>
          <a:solidFill>
            <a:srgbClr val="183A1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754" y="4682847"/>
            <a:ext cx="261342" cy="2090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32170" y="4620935"/>
            <a:ext cx="3114675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Uses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XGBoost predictions, directional trading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5252680" y="5758458"/>
            <a:ext cx="4003238" cy="1487091"/>
          </a:xfrm>
          <a:prstGeom prst="roundRect">
            <a:avLst>
              <a:gd name="adj" fmla="val 2109"/>
            </a:avLst>
          </a:prstGeom>
          <a:solidFill>
            <a:srgbClr val="4B3F0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754" y="6065401"/>
            <a:ext cx="261342" cy="20907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32170" y="6003488"/>
            <a:ext cx="3114675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Missing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Shift detection, attribution, HITL review, adaptive response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9773603" y="3832503"/>
            <a:ext cx="332315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Higher-Complexity Models</a:t>
            </a:r>
            <a:endParaRPr lang="en-US" sz="2050" dirty="0"/>
          </a:p>
        </p:txBody>
      </p:sp>
      <p:sp>
        <p:nvSpPr>
          <p:cNvPr id="19" name="Shape 13"/>
          <p:cNvSpPr/>
          <p:nvPr/>
        </p:nvSpPr>
        <p:spPr>
          <a:xfrm>
            <a:off x="9773603" y="4375904"/>
            <a:ext cx="4140041" cy="1165741"/>
          </a:xfrm>
          <a:prstGeom prst="roundRect">
            <a:avLst>
              <a:gd name="adj" fmla="val 2691"/>
            </a:avLst>
          </a:prstGeom>
          <a:solidFill>
            <a:srgbClr val="183A1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676" y="4682847"/>
            <a:ext cx="261342" cy="20907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453092" y="4620935"/>
            <a:ext cx="325147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 Uses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Stacked ensemble, sequence models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9773603" y="5758458"/>
            <a:ext cx="4140041" cy="1165741"/>
          </a:xfrm>
          <a:prstGeom prst="roundRect">
            <a:avLst>
              <a:gd name="adj" fmla="val 2691"/>
            </a:avLst>
          </a:prstGeom>
          <a:solidFill>
            <a:srgbClr val="4B3F02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676" y="6065401"/>
            <a:ext cx="261342" cy="2090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453092" y="6003488"/>
            <a:ext cx="3251478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✗ Missing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Explanation quality, reproducibility and rerun speed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61679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 Monitored Model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2051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XGBRegressor predicting next 4H log return — 70/15/15 chronological split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5-fold TimeSeriesSplit tuning with MAE objective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Chosen for: predictive strength, TreeSHAP compatibility, rerun speed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Pair-specific hyperparameters — not one copied config for all instruments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93250"/>
            <a:ext cx="4196358" cy="2312551"/>
          </a:xfrm>
          <a:prstGeom prst="roundRect">
            <a:avLst>
              <a:gd name="adj" fmla="val 1471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320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EURUSD ✓ Strongest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8104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0.001141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53094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Dir. Accuracy: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59.52%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58084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5 · lr 0.05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093250"/>
            <a:ext cx="4196358" cy="2312551"/>
          </a:xfrm>
          <a:prstGeom prst="roundRect">
            <a:avLst>
              <a:gd name="adj" fmla="val 1471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5443776" y="4320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GBPJPY · Moderate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3776" y="48104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0.001621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43776" y="53094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Dir. Accuracy: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52.63%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43776" y="58084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3 · lr 0.01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4093250"/>
            <a:ext cx="4196358" cy="2312551"/>
          </a:xfrm>
          <a:prstGeom prst="roundRect">
            <a:avLst>
              <a:gd name="adj" fmla="val 1471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9866948" y="43200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XAUUSD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⚠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Hardest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66948" y="481810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0.003483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6948" y="531709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Dir. Accuracy: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51.37%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66948" y="581608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5 · strong regularization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9857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Shift Detection Engine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2051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Markets shift for known and unknown reasons — one detector is not enough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Scheduled: KS test + MMD on 60-bar pre/post windows around macro events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Unexpected: ADWIN (δ=0.002) on non-calendar days — flash moves, geopolitical events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Performance: DDM on directional error stream — catches model degradation directly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093250"/>
            <a:ext cx="4196358" cy="2404110"/>
          </a:xfrm>
          <a:prstGeom prst="roundRect">
            <a:avLst>
              <a:gd name="adj" fmla="val 1415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320064"/>
            <a:ext cx="374273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Scheduled Shifts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4909661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KS Test + MMD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540865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60-bar pre/post windows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590764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High-impact macro events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4093250"/>
            <a:ext cx="4196358" cy="2404110"/>
          </a:xfrm>
          <a:prstGeom prst="roundRect">
            <a:avLst>
              <a:gd name="adj" fmla="val 1415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5443776" y="4320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Unexpected Shifts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3776" y="48104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ADWIN · δ=0.002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443776" y="53094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windowing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43776" y="58084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Non-calendar disruptions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4093250"/>
            <a:ext cx="4196358" cy="2404110"/>
          </a:xfrm>
          <a:prstGeom prst="roundRect">
            <a:avLst>
              <a:gd name="adj" fmla="val 1415"/>
            </a:avLst>
          </a:prstGeom>
          <a:solidFill>
            <a:srgbClr val="3F4652"/>
          </a:solidFill>
          <a:ln/>
        </p:spPr>
      </p:sp>
      <p:sp>
        <p:nvSpPr>
          <p:cNvPr id="15" name="Text 13"/>
          <p:cNvSpPr/>
          <p:nvPr/>
        </p:nvSpPr>
        <p:spPr>
          <a:xfrm>
            <a:off x="9866948" y="43200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Drift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66948" y="481048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DDM on error stream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866948" y="53094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Warning + drift thresholds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866948" y="58084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degradation detection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7525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three feed into → Shift Event Queue → SHAP Attribution → HITL Review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69369"/>
            <a:ext cx="5987534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SHAP Attribution Layer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757124"/>
            <a:ext cx="13117116" cy="1760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'why' behind market shifts requires attributing model predictions to specific feature groups. Our SHAP attribution layer highlights the dominant drivers for each currency pair.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TreeSHAP explains post-shift samples and Feature contributions aggregated into 4 interpretable groups. Attribution patterns differed sharply by pair 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3749754"/>
            <a:ext cx="3124795" cy="1630085"/>
          </a:xfrm>
          <a:prstGeom prst="roundRect">
            <a:avLst>
              <a:gd name="adj" fmla="val 8975"/>
            </a:avLst>
          </a:prstGeom>
          <a:solidFill>
            <a:srgbClr val="202733"/>
          </a:solidFill>
          <a:ln w="3048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162" y="374975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094661" y="3996333"/>
            <a:ext cx="25401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94661" y="4457700"/>
            <a:ext cx="254019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MAs, momentum, MACD, RSI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87416" y="3749754"/>
            <a:ext cx="3124795" cy="1630085"/>
          </a:xfrm>
          <a:prstGeom prst="roundRect">
            <a:avLst>
              <a:gd name="adj" fmla="val 8975"/>
            </a:avLst>
          </a:prstGeom>
          <a:solidFill>
            <a:srgbClr val="202733"/>
          </a:solidFill>
          <a:ln w="3048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6936" y="374975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425434" y="3996333"/>
            <a:ext cx="25401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Volatility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25434" y="4457700"/>
            <a:ext cx="254019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ATR, Garman-Klass, 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vol-of-vol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18189" y="3749754"/>
            <a:ext cx="3124795" cy="1630085"/>
          </a:xfrm>
          <a:prstGeom prst="roundRect">
            <a:avLst>
              <a:gd name="adj" fmla="val 8975"/>
            </a:avLst>
          </a:prstGeom>
          <a:solidFill>
            <a:srgbClr val="202733"/>
          </a:solidFill>
          <a:ln w="3048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7709" y="374975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56208" y="3996333"/>
            <a:ext cx="25401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Macro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756208" y="4457700"/>
            <a:ext cx="254019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Rate differentials, yield spreads, NFP/CPI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748962" y="3749754"/>
            <a:ext cx="3124795" cy="1630085"/>
          </a:xfrm>
          <a:prstGeom prst="roundRect">
            <a:avLst>
              <a:gd name="adj" fmla="val 8975"/>
            </a:avLst>
          </a:prstGeom>
          <a:solidFill>
            <a:srgbClr val="202733"/>
          </a:solidFill>
          <a:ln w="3048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18483" y="3749754"/>
            <a:ext cx="121920" cy="1630085"/>
          </a:xfrm>
          <a:prstGeom prst="roundRect">
            <a:avLst>
              <a:gd name="adj" fmla="val 26599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086981" y="3996333"/>
            <a:ext cx="25401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Sentiment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086981" y="4457700"/>
            <a:ext cx="2540198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VIX, DXY, news volume, cross-asset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416248" y="581763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EURUSD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56642" y="6361390"/>
            <a:ext cx="402157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dominant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31/31 shifts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(Sched: 26 · Unexp: 5 · Perf: 0)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72175" y="581763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GBPJPY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313283" y="6361390"/>
            <a:ext cx="402026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Sentiment dominant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27/27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(Sched: 7 · Unexp: 19 · Perf: 1)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527506" y="581763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XAUUSD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68614" y="6361390"/>
            <a:ext cx="402026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Mixed (Sentiment + Technical)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34/50 sentiment, 16/50 technical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(Sched: 27 · Unexp: 23 · Perf: 0)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71512"/>
            <a:ext cx="12423100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HITL Review: Dashboard and Human Oversight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808798"/>
            <a:ext cx="13067586" cy="148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with 4 analytic views: Overview · P&amp;L Simulator · Price &amp; Regimes · Shift Detection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input is most valuable when evidence is interpretable and review is lightweight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 runs used auto-confirmed decisions for full reproducibility ,manual override still supported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3538895"/>
            <a:ext cx="1116330" cy="13396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7527" y="3762137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Shift Flagged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117527" y="4242792"/>
            <a:ext cx="117314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engine raises event (Scheduled / Unexpected / Performance)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407" y="4878586"/>
            <a:ext cx="1116330" cy="13396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17527" y="510182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 Review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2117527" y="5582483"/>
            <a:ext cx="117314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inspects SHAP attribution, confirms or rejects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6218277"/>
            <a:ext cx="1116330" cy="13396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17527" y="6441519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Decision Logged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2117527" y="6922175"/>
            <a:ext cx="117314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Approved shifts enter retraining queue; rejected shifts discarded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6645"/>
            <a:ext cx="113647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Selective Retraining and Adaptive Trading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5761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Retraining Policies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270641"/>
            <a:ext cx="4196358" cy="1306949"/>
          </a:xfrm>
          <a:prstGeom prst="roundRect">
            <a:avLst>
              <a:gd name="adj" fmla="val 41653"/>
            </a:avLst>
          </a:prstGeom>
          <a:solidFill>
            <a:srgbClr val="3F4652"/>
          </a:solidFill>
          <a:ln/>
        </p:spPr>
      </p:sp>
      <p:sp>
        <p:nvSpPr>
          <p:cNvPr id="5" name="Text 3"/>
          <p:cNvSpPr/>
          <p:nvPr/>
        </p:nvSpPr>
        <p:spPr>
          <a:xfrm>
            <a:off x="1474351" y="2497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Retrain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29878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baseline, no update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270641"/>
            <a:ext cx="4196358" cy="1306949"/>
          </a:xfrm>
          <a:prstGeom prst="roundRect">
            <a:avLst>
              <a:gd name="adj" fmla="val 41653"/>
            </a:avLst>
          </a:prstGeom>
          <a:solidFill>
            <a:srgbClr val="3F4652"/>
          </a:solidFill>
          <a:ln/>
        </p:spPr>
      </p:sp>
      <p:sp>
        <p:nvSpPr>
          <p:cNvPr id="8" name="Text 6"/>
          <p:cNvSpPr/>
          <p:nvPr/>
        </p:nvSpPr>
        <p:spPr>
          <a:xfrm>
            <a:off x="5897523" y="2497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 Retrain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29878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retrain on all available data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270641"/>
            <a:ext cx="4196358" cy="1306949"/>
          </a:xfrm>
          <a:prstGeom prst="roundRect">
            <a:avLst>
              <a:gd name="adj" fmla="val 41653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10320695" y="2497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Window Retrain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29878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30-day local window only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3804404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F4652"/>
          </a:solidFill>
          <a:ln/>
        </p:spPr>
      </p:sp>
      <p:sp>
        <p:nvSpPr>
          <p:cNvPr id="14" name="Text 12"/>
          <p:cNvSpPr/>
          <p:nvPr/>
        </p:nvSpPr>
        <p:spPr>
          <a:xfrm>
            <a:off x="2580084" y="4031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Weighted Retrain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0604" y="452163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recent data emphasized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3804404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F4652"/>
          </a:solidFill>
          <a:ln/>
        </p:spPr>
      </p:sp>
      <p:sp>
        <p:nvSpPr>
          <p:cNvPr id="17" name="Text 15"/>
          <p:cNvSpPr/>
          <p:nvPr/>
        </p:nvSpPr>
        <p:spPr>
          <a:xfrm>
            <a:off x="9214842" y="4031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Adaptive Retrain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55362" y="4521637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 selected from shift type + dominant SHAP group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451515"/>
            <a:ext cx="3411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Adaptive Trading Posture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3790" y="6146006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1020604" y="63728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Dominant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20604" y="686323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➡️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Follow-through posture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5216962" y="6146006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24" name="Text 22"/>
          <p:cNvSpPr/>
          <p:nvPr/>
        </p:nvSpPr>
        <p:spPr>
          <a:xfrm>
            <a:off x="5443776" y="63728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Macro / Sentiment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3776" y="686323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➡️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Event-aware participation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9640133" y="6146006"/>
            <a:ext cx="4196358" cy="1306949"/>
          </a:xfrm>
          <a:prstGeom prst="roundRect">
            <a:avLst>
              <a:gd name="adj" fmla="val 2603"/>
            </a:avLst>
          </a:prstGeom>
          <a:solidFill>
            <a:srgbClr val="3F4652"/>
          </a:solidFill>
          <a:ln/>
        </p:spPr>
      </p:sp>
      <p:sp>
        <p:nvSpPr>
          <p:cNvPr id="27" name="Text 25"/>
          <p:cNvSpPr/>
          <p:nvPr/>
        </p:nvSpPr>
        <p:spPr>
          <a:xfrm>
            <a:off x="9866948" y="6372820"/>
            <a:ext cx="30814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Volatility / Unexpected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66948" y="686323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➡️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Defensive posture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61670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 span: prediction, drift counts, attribution, recovery, trading quality, portfolio outcomes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validation: paired t-tests between technical baseline and ShiftGuard on overlapping trades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970603" y="2885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Prediction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376136"/>
            <a:ext cx="40120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MAE, RMSE, directional accuracy, precision, recall, F1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96301" y="341626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9824442" y="2885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824442" y="3376136"/>
            <a:ext cx="4012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Counts of scheduled, unexpected, and performance shifts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70307" y="369093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10051256" y="4520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Attribution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051256" y="5011103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feature group patterns across shifts</a:t>
            </a:r>
            <a:endParaRPr lang="en-US" sz="1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19423" y="519136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1"/>
          <p:cNvSpPr/>
          <p:nvPr/>
        </p:nvSpPr>
        <p:spPr>
          <a:xfrm>
            <a:off x="9824442" y="6155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Retraining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24442" y="6646188"/>
            <a:ext cx="4012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Post-shift MAE, recovery bars, % recovered</a:t>
            </a:r>
            <a:endParaRPr lang="en-US" sz="1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94533" y="641711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20" name="Text 14"/>
          <p:cNvSpPr/>
          <p:nvPr/>
        </p:nvSpPr>
        <p:spPr>
          <a:xfrm>
            <a:off x="1970603" y="61557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Trading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93790" y="6646188"/>
            <a:ext cx="40120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 rate, profit factor, cumulative return, market participation</a:t>
            </a:r>
            <a:endParaRPr lang="en-US" sz="17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120527" y="6142434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650" dirty="0"/>
          </a:p>
        </p:txBody>
      </p:sp>
      <p:sp>
        <p:nvSpPr>
          <p:cNvPr id="24" name="Text 17"/>
          <p:cNvSpPr/>
          <p:nvPr/>
        </p:nvSpPr>
        <p:spPr>
          <a:xfrm>
            <a:off x="1743789" y="4520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93790" y="5011103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Combined profit and ending balance across all 3 pairs</a:t>
            </a:r>
            <a:endParaRPr lang="en-US" sz="17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46427"/>
            <a:ext cx="4564975" cy="45649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1411" y="464200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</a:t>
            </a:r>
            <a:endParaRPr lang="en-US" sz="2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Five Experiments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786176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7501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Trading Comparison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Technical vs. ML Direction vs. ShiftGuard · win rate, profit factor, cumulative return, participation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1786176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5893" y="27501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Fixed-Capital / Portfolio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$10k per pair · 1:20 leverage · transaction costs · 30% tax · ending balance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1786176"/>
            <a:ext cx="680442" cy="68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7995" y="275010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Selective Retraining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5 policies post-shift · MAE recovery · recovery bars · % recovered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292441"/>
            <a:ext cx="680442" cy="6804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93790" y="525637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Walk-Forward Robustness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expanding-window refit from 2021 · 48 refit windows per pair</a:t>
            </a:r>
            <a:endParaRPr lang="en-US" sz="17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292441"/>
            <a:ext cx="680442" cy="68044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35893" y="525637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Ablation Study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system-level (Table 3) + adaptation policy (Table 7)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10671334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Retraining and Walk Forward Robustness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682234"/>
            <a:ext cx="13117116" cy="91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retraining policy was pair-dependent — no single policy wins everywhere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XAUUSD showed the clearest gain — most non-stationary pair benefits most from repeated refits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830473"/>
            <a:ext cx="13117116" cy="4803338"/>
          </a:xfrm>
          <a:prstGeom prst="roundRect">
            <a:avLst>
              <a:gd name="adj" fmla="val 67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718" y="2969300"/>
            <a:ext cx="102084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441377" y="2969300"/>
            <a:ext cx="101572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Holdout MAE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96916" y="2969300"/>
            <a:ext cx="2130743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Post-shift Retrain MAE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67475" y="2969300"/>
            <a:ext cx="1503164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Holdout Dir Acc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0456" y="2969300"/>
            <a:ext cx="15149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WF Dir Acc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365224" y="2969300"/>
            <a:ext cx="17848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WF MAE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589907" y="2969300"/>
            <a:ext cx="106013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0718" y="3914894"/>
            <a:ext cx="102084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EURUSD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Retrain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441377" y="3914894"/>
            <a:ext cx="10157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0.001141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96916" y="3914894"/>
            <a:ext cx="213074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0.001173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7475" y="3914894"/>
            <a:ext cx="15031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59.34%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0456" y="3914894"/>
            <a:ext cx="15149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60.87%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365224" y="3914894"/>
            <a:ext cx="17848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0.001122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589907" y="3914894"/>
            <a:ext cx="106013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85.7%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0718" y="5198269"/>
            <a:ext cx="102084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GBPJPY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or Adaptive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441377" y="5198269"/>
            <a:ext cx="10157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0.001621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96916" y="5198269"/>
            <a:ext cx="213074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0.001643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67475" y="5198269"/>
            <a:ext cx="15031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52.45%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0456" y="5198269"/>
            <a:ext cx="15149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53.10%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365224" y="5198269"/>
            <a:ext cx="17848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0.001636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2589907" y="5198269"/>
            <a:ext cx="106013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85.7%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0718" y="6481643"/>
            <a:ext cx="102084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XAUUSD</a:t>
            </a:r>
            <a:endParaRPr lang="en-US" sz="1700" dirty="0"/>
          </a:p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Weighted Retrain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441377" y="6481643"/>
            <a:ext cx="10157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0.003483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896916" y="6481643"/>
            <a:ext cx="213074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0.004148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67475" y="6481643"/>
            <a:ext cx="1503164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51.34%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0456" y="6481643"/>
            <a:ext cx="15149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55.84%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365224" y="6481643"/>
            <a:ext cx="17848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0.002632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589907" y="6481643"/>
            <a:ext cx="106013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84.6%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123616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Results — Trading and Portfolio Outcomes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86176"/>
            <a:ext cx="13042821" cy="197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EURUSD: ShiftGuard win rate 58.45% vs ML 56.68%, profit factor 2.14 vs 1.80 — at only 28% participation vs 100%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Selective participation = fewer but more confident trades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significance: p &lt; 0.003 (EURUSD) · p &lt; 0.00005 (GBPJPY) · p &lt; 10⁻⁶ (XAUUSD)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989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Portfolio Outcomes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8644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$10,000 per pair · $30,000 portfolio capital · 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5958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$103,515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455420" y="6627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 months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55958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$125,028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97523" y="6627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 months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77995" y="559581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$196,080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6627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year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9304496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 — What the Pipeline Added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682234"/>
            <a:ext cx="13117116" cy="1977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baseline = no learned model, no shift-aware control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Direction baseline = learned model only — no detection, attribution, or adaptive response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= learned model + detection + attribution + review + adaptive response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pipeline mattered more than raw forecasting accuracy</a:t>
            </a:r>
            <a:endParaRPr lang="en-US" sz="170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XAUUSD: hardest to predict, strongest downstream gains — regime awareness &gt; raw accuracy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3891082"/>
            <a:ext cx="13117116" cy="2776657"/>
          </a:xfrm>
          <a:prstGeom prst="roundRect">
            <a:avLst>
              <a:gd name="adj" fmla="val 116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361" y="4029908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68253" y="4029908"/>
            <a:ext cx="174426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Technical Win Rate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52336" y="4029908"/>
            <a:ext cx="174426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 Direction Win 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36418" y="4029908"/>
            <a:ext cx="174426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Win Rate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20501" y="4029908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Trades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904583" y="4029908"/>
            <a:ext cx="174807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Profit Factor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0361" y="4975503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EURUSD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68253" y="4975503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50.9%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52336" y="4975503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54.0%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36418" y="4975503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58.5%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720501" y="4975503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27.9%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904583" y="4975503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0361" y="5583317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GBPJPY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68253" y="5583317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50.9%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52336" y="5583317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51.9%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36418" y="5583317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59.1%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720501" y="5583317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39.4%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904583" y="5583317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1.99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0361" y="6191131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XAUUSD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168253" y="6191131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50.1%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52336" y="6191131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49.6%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36418" y="6191131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58.0%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20501" y="6191131"/>
            <a:ext cx="174426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40.7%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1904583" y="6191131"/>
            <a:ext cx="174807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1.89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6642" y="6899553"/>
            <a:ext cx="131171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Across the 2021-2026 evaluation window, ShiftGuard achieved the highest win rate on all three pairs while trading only 27.9-40.7% of bars, showing that regime filtering improved trade quality over both technical rules and always-on ML.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7276"/>
            <a:ext cx="76725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 and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4303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Takeaways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136821"/>
            <a:ext cx="6108740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ShiftGuard worked best as a shift-aware decision system — not just a predictor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Shift-aware filtering improved trading quality, especially on GBPJPY and XAUUSD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Profit and ending balance matter alongside accuracy — selective participation wins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Walk-forward evaluation strengthened robustness — directional accuracy improved on all 3 pairs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contribution: system integration — detection + attribution + review + adaptive response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742992" y="234303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Work</a:t>
            </a:r>
            <a:endParaRPr lang="en-US" sz="3550" dirty="0"/>
          </a:p>
        </p:txBody>
      </p:sp>
      <p:sp>
        <p:nvSpPr>
          <p:cNvPr id="6" name="Text 4"/>
          <p:cNvSpPr/>
          <p:nvPr/>
        </p:nvSpPr>
        <p:spPr>
          <a:xfrm>
            <a:off x="7742992" y="3136821"/>
            <a:ext cx="6108740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Learned retraining policy — select strategy from shift type + SHAP group + recovery history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feedback loop — validate human overrides before feeding back into retraining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Stress tests — dynamic transaction costs, realistic slippage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adaptation — continuous ingestion, real-time drift monitoring, live shift alerts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deployment — move from historical analysis to ongoing adaptation framework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5903" y="1540669"/>
            <a:ext cx="58984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Roles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059299" y="28164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Anusha Ravi Kumar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468529"/>
            <a:ext cx="393334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 and dataset construction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Monitored model and baseline development (XGBoost pipeline)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and HITL review layer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Pipeline integration and report polishing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553670" y="281642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Sohan Mahesh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5288161" y="3468529"/>
            <a:ext cx="393334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detection pipeline (scheduled, unexpected, performance drift)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attribution and shift interpretation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Selective retraining and adaptive trading response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pipeline integration and experiment interpretation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53876" y="2816423"/>
            <a:ext cx="35263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Disha Manubhai Patel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9782532" y="3468529"/>
            <a:ext cx="4069199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acquisition and curation (forex, macro, sentiment, event context)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setup and metric generation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paper identification for ablation framing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preparation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952393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3" name="Text 1"/>
          <p:cNvSpPr/>
          <p:nvPr/>
        </p:nvSpPr>
        <p:spPr>
          <a:xfrm>
            <a:off x="5046940" y="47102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Questions?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2026-04-16T01:50:20Z</dcterms:created>
  <dcterms:modified xsi:type="dcterms:W3CDTF">2026-04-16T01:50:20Z</dcterms:modified>
</cp:coreProperties>
</file>